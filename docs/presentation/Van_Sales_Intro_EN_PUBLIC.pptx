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7223760" y="-1097280"/>
            <a:ext cx="6400800" cy="6400800"/>
          </a:xfrm>
          <a:prstGeom prst="roundRect">
            <a:avLst>
              <a:gd name="adj" fmla="val 6000"/>
            </a:avLst>
          </a:prstGeom>
          <a:solidFill>
            <a:srgbClr val="11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0120" y="1188720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7498079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DejaVu Sans"/>
              </a:rPr>
              <a:t>Smart Van Sales</a:t>
            </a:r>
          </a:p>
          <a:p>
            <a:pPr algn="l"/>
            <a:r>
              <a:rPr sz="4700" b="1">
                <a:solidFill>
                  <a:srgbClr val="FFFFFF"/>
                </a:solidFill>
                <a:latin typeface="DejaVu Sans"/>
              </a:rPr>
              <a:t>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703320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DejaVu Sans"/>
              </a:rPr>
              <a:t>End-to-end direct-store-delivery platform for food &amp; beverage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4617720"/>
            <a:ext cx="991209" cy="3840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" y="4617720"/>
            <a:ext cx="99120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818CF8"/>
                </a:solidFill>
                <a:latin typeface="DejaVu Sans"/>
              </a:rPr>
              <a:t>Hot Sale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97633" y="4617720"/>
            <a:ext cx="1170432" cy="3840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097633" y="4617720"/>
            <a:ext cx="11704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818CF8"/>
                </a:solidFill>
                <a:latin typeface="DejaVu Sans"/>
              </a:rPr>
              <a:t>FEFO Stock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4369" y="4617720"/>
            <a:ext cx="1887321" cy="3840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14369" y="4617720"/>
            <a:ext cx="188732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818CF8"/>
                </a:solidFill>
                <a:latin typeface="DejaVu Sans"/>
              </a:rPr>
              <a:t>Route Optimisation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7995" y="4617720"/>
            <a:ext cx="1528876" cy="3840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47995" y="4617720"/>
            <a:ext cx="15288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818CF8"/>
                </a:solidFill>
                <a:latin typeface="DejaVu Sans"/>
              </a:rPr>
              <a:t>Local-first 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5577840"/>
            <a:ext cx="822960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0120" y="58064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DejaVu Sans"/>
              </a:rPr>
              <a:t>From the factory to the shop shelf — one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58064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2DD4BF"/>
                </a:solidFill>
                <a:latin typeface="DejaVu Sans"/>
              </a:rPr>
              <a:t>v1.0.0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02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DejaVu Sans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10424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DejaVu Sans"/>
              </a:rPr>
              <a:t>At day end, everyone quotes</a:t>
            </a:r>
          </a:p>
          <a:p>
            <a:pPr algn="l"/>
            <a:r>
              <a:rPr sz="3600" b="1">
                <a:solidFill>
                  <a:srgbClr val="FFFFFF"/>
                </a:solidFill>
                <a:latin typeface="DejaVu Sans"/>
              </a:rPr>
              <a:t>a different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24612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DejaVu Sans"/>
              </a:rPr>
              <a:t>When van stock, invoices raised, cash collected and the physical count are each kept separately, nobody can trace where the evening's discrepancy came from.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03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Four places it breaks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Where van sales operations most reliably lose money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Guessed van stock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What was loaded is in a notebook, what was sold is on receipts. When they disagree at night, the variance belongs to nobody.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Expiry leakage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Short-dated stock sits on the shelf while a newer batch is sold. The write-off is discovered only at disposal.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Route blindness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Routes are built from habit. Nobody measures the relationship between kilometres driven and revenue earned.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Credit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The credit limit lives on paper; the office learns about the over-limit sale after the rep has already made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04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The chain this system covers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Every link feeds from the previous one — no manual re-entry anywhere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4F46E5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8368" y="2962656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DejaVu Sans"/>
              </a:rPr>
              <a:t>Factory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5103" y="2962656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76272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267712" y="2962656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Central Depot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962656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85615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877055" y="2962656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Regional Depot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2962656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94959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399" y="2962656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Van Loading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3136" y="2962656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4303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95743" y="2962656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Sales Van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962656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13647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705087" y="2962656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Salesperson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21823" y="2962656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22991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314431" y="2962656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Daily Route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4636008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Customer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75103" y="4636008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76272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267712" y="4636008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Hot Sale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84448" y="4636008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85615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877055" y="4636008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Invoice / Waybill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93792" y="4636008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94959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486399" y="4636008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Collection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03136" y="4636008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04303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095743" y="4636008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Return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636008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13647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705087" y="4636008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Van Count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21823" y="4636008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22991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4F46E5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0314431" y="4636008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DejaVu Sans"/>
              </a:rPr>
              <a:t>Day-End Reconciliation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05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The measure of the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Figures measured from the running system, not targets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423160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660904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2DD4BF"/>
                </a:solidFill>
                <a:latin typeface="DejaVu Sans"/>
              </a:rPr>
              <a:t>118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92424"/>
            <a:ext cx="22311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DejaVu Sans"/>
              </a:rPr>
              <a:t>database tables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2423160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401568" y="2660904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2DD4BF"/>
                </a:solidFill>
                <a:latin typeface="DejaVu Sans"/>
              </a:rPr>
              <a:t>293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392424"/>
            <a:ext cx="22311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DejaVu Sans"/>
              </a:rPr>
              <a:t>API endpoints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2423160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36207" y="2660904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2DD4BF"/>
                </a:solidFill>
                <a:latin typeface="DejaVu Sans"/>
              </a:rPr>
              <a:t>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3392424"/>
            <a:ext cx="22311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DejaVu Sans"/>
              </a:rPr>
              <a:t>interface screens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0847" y="2423160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070847" y="2660904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2DD4BF"/>
                </a:solidFill>
                <a:latin typeface="DejaVu Sans"/>
              </a:rPr>
              <a:t>207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39" y="3392424"/>
            <a:ext cx="22311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DejaVu Sans"/>
              </a:rPr>
              <a:t>permissions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178808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66928" y="441655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2DD4BF"/>
                </a:solidFill>
                <a:latin typeface="DejaVu Sans"/>
              </a:rPr>
              <a:t>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48072"/>
            <a:ext cx="22311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DejaVu Sans"/>
              </a:rPr>
              <a:t>business services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01568" y="4178808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401568" y="441655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2DD4BF"/>
                </a:solidFill>
                <a:latin typeface="DejaVu Sans"/>
              </a:rPr>
              <a:t>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5148072"/>
            <a:ext cx="22311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DejaVu Sans"/>
              </a:rPr>
              <a:t>built-in reports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7" y="4178808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36207" y="441655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2DD4BF"/>
                </a:solidFill>
                <a:latin typeface="DejaVu Sans"/>
              </a:rPr>
              <a:t>942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799" y="5148072"/>
            <a:ext cx="22311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DejaVu Sans"/>
              </a:rPr>
              <a:t>database indexes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0847" y="4178808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070847" y="441655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2DD4BF"/>
                </a:solidFill>
                <a:latin typeface="DejaVu San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39" y="5148072"/>
            <a:ext cx="22311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DejaVu Sans"/>
              </a:rPr>
              <a:t>languages (TR / EN)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06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DejaVu Sans"/>
              </a:rPr>
              <a:t>The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DejaVu Sans"/>
              </a:rPr>
              <a:t>20 KPIs and 7 live charts — panel and reports share one aggregation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766163" y="1751076"/>
            <a:ext cx="8659368" cy="4898898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02-panel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67" y="1783080"/>
            <a:ext cx="8595360" cy="48348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" y="224028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1E293B"/>
                </a:solidFill>
                <a:latin typeface="DejaVu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87168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DejaVu Sans"/>
              </a:rPr>
              <a:t>Hot Sale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96" y="3529584"/>
            <a:ext cx="1005840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20" y="3767328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DejaVu Sans"/>
              </a:rPr>
              <a:t>The screen a rep opens hundreds of times a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1447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07 / 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08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Six taps at the customer's door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Built to be used one-handed, standing in a shop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29382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DejaVu Sans"/>
              </a:rPr>
              <a:t>1 · Pick the 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29382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Balance, credit limit, risk and recent purchases all on the same screen.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6448" y="2907791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4644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657344" y="3127248"/>
            <a:ext cx="29382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DejaVu Sans"/>
              </a:rPr>
              <a:t>2 · See the van stock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7344" y="3566159"/>
            <a:ext cx="29382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Only what is physically on the van; short-dated items carry a coloured warning badge.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5968" y="2907791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12596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436864" y="3127248"/>
            <a:ext cx="29382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DejaVu Sans"/>
              </a:rPr>
              <a:t>3 · Read the AI suggestion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6864" y="3566159"/>
            <a:ext cx="29382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From average consumption and days since the last purchase, the system estimates what has run out.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16552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77824" y="4636008"/>
            <a:ext cx="29382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DejaVu Sans"/>
              </a:rPr>
              <a:t>4 · Build the basket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5074920"/>
            <a:ext cx="29382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Enter quantity and unit; campaigns apply themselves and free goods appear as their own line.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6448" y="4416552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434644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657344" y="4636008"/>
            <a:ext cx="29382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DejaVu Sans"/>
              </a:rPr>
              <a:t>5 · Take payment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7344" y="5074920"/>
            <a:ext cx="29382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Cash, card, transfer, cheque or open account. A cheque does not reduce the balance until it clears.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5968" y="4416552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812596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436864" y="4636008"/>
            <a:ext cx="29382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DejaVu Sans"/>
              </a:rPr>
              <a:t>6 · Complete the sale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6864" y="5074920"/>
            <a:ext cx="29382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Order, delivery, invoice, ledger entry and stock issue are created in one go.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09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DejaVu Sans"/>
              </a:rPr>
              <a:t>HOT SALE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DejaVu Sans"/>
              </a:rPr>
              <a:t>The salesperson's screen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·  Picking a customer shows balance, credit limit, risk score and past orders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The middle column is the van's real stock; short-dated items carry a badge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Campaigns apply themselves — free goods appear as their own line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Totals compute live: gross, line discount, campaign, VAT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Payment method is chosen and the sale posts in one transaction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03-sicak-satis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10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DejaVu Sans"/>
              </a:rPr>
              <a:t>DESIGN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10424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DejaVu Sans"/>
              </a:rPr>
              <a:t>All of it is written, or none of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246120"/>
            <a:ext cx="11064240" cy="80467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96112" y="3483863"/>
            <a:ext cx="104241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DejaVu Sans"/>
              </a:rPr>
              <a:t>order + delivery + invoice + ledger + payment  =  1 transaction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43484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DejaVu Sans"/>
              </a:rPr>
              <a:t>Order → delivery → FEFO stock issue → invoice → ledger → payment is a single database transaction. If any step fails, none of it is written. There is no such thing as a half-finished sale.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11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Working offline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Coverage is not guaranteed in the field — the system assumes that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Held on the device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With no connection the basket waits on the device and the rep keeps selling.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Safe to resend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Every basket carries a unique id. Submitting the same sale twice never creates a second record.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Reference data cached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Product, customer and campaign lists open without a connection.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Installable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Installs to a phone or tablet as a PWA — no app store process required.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" y="224028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1E293B"/>
                </a:solidFill>
                <a:latin typeface="DejaVu San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87168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DejaVu Sans"/>
              </a:rPr>
              <a:t>Stock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96" y="3529584"/>
            <a:ext cx="1005840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20" y="3767328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DejaVu Sans"/>
              </a:rPr>
              <a:t>In food distribution, stock means 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1447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12 / 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13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An immutable stock ledger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The structure that settles the day-end argument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Movements are never deleted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Stock movements are only appended; a correction is itself a new movement. History cannot be rewritten.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Balance derives from the ledger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A balance is kept for fast reads but can be rebuilt from the ledger at any moment.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FEFO by default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The nearest-expiry batch leaves first. In food that is not a preference, it is a requirement.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Batch traceability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Which batch went to which customer is recorded — a recall produces a list immediately.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14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DejaVu Sans"/>
              </a:rPr>
              <a:t>VAN LOADING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DejaVu Sans"/>
              </a:rPr>
              <a:t>AI-assisted loading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·  Past consumption of the route's customers, weekday and season effects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Stock already on the van is subtracted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Volume and weight capacity cannot be exceeded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Every line carries its own reason and confidence level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The suggestion is editable — the rep has the last word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08-arac-yukleme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15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DejaVu Sans"/>
              </a:rPr>
              <a:t>DAY-END RECONCILIATION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10424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DejaVu Sans"/>
              </a:rPr>
              <a:t>The variance is computed, not debated.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246120"/>
            <a:ext cx="11064240" cy="1133856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96112" y="3483863"/>
            <a:ext cx="1042416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DejaVu Sans"/>
              </a:rPr>
              <a:t>theoretical = opening + loaded + reloaded − sold + returned − wastage</a:t>
            </a:r>
          </a:p>
          <a:p>
            <a:pPr algn="l"/>
            <a:r>
              <a:rPr sz="1600" b="1">
                <a:solidFill>
                  <a:srgbClr val="2DD4BF"/>
                </a:solidFill>
                <a:latin typeface="DejaVu Sans"/>
              </a:rPr>
              <a:t>variance    = theoretical − physical 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764024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DejaVu Sans"/>
              </a:rPr>
              <a:t>Every term comes from the movement ledger; there is no hand-maintained counter anywhere. A non-zero variance flags the session, writes an adjustment movement and notifies the manager.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16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A van is a warehouse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We did not write a separate 'van stock' subsystem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Same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A van is a warehouse of type VEHICLE. FEFO, counting, transfers and valuation all work on it unchanged.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Created automatically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Saving a vehicle creates its warehouse; there is nothing extra to set 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Capacity enforced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Volume and weight are checked during loading and an overload is refused.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Why this 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A second stock subsystem would be a copy of the same rules that drifts apart over time.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" y="224028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1E293B"/>
                </a:solidFill>
                <a:latin typeface="DejaVu San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87168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DejaVu Sans"/>
              </a:rPr>
              <a:t>The Field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96" y="3529584"/>
            <a:ext cx="1005840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20" y="3767328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DejaVu Sans"/>
              </a:rPr>
              <a:t>Routes, visits and 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1447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17 / 33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18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Route optimisation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Capacity, time windows and service time solved together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Two-layer solver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Google OR-Tools when installed; otherwise the system's own Clarke-Wright + 2-opt solver takes over.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The feature never disappears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A missing 100 MB dependency does not disable routing — the fallback solver always works.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Real constraints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Vehicle volume and weight, customer opening hours, service time, working-day limit and priority customers.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Plan vs actual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Completed, skipped and delayed stops, plus the planned-versus-actual kilometre difference.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19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DejaVu Sans"/>
              </a:rPr>
              <a:t>THE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DejaVu Sans"/>
              </a:rPr>
              <a:t>Routes and 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·  Daily routes are generated from customers' visit days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Optimisation solves capacity, time windows and service time together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Which solver ran is stated on screen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Planned versus actual kilometres are reported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10-rotalar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" y="224028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1E293B"/>
                </a:solidFill>
                <a:latin typeface="DejaVu San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87168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DejaVu Sans"/>
              </a:rPr>
              <a:t>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96" y="3529584"/>
            <a:ext cx="1005840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20" y="3767328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DejaVu Sans"/>
              </a:rPr>
              <a:t>A forecast you cannot measure is a forecast you cannot 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1447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20 / 33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21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Demand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FMCG demand is intermittent — classical methods do badly on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Classify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Is the series smooth, intermittent or lumpy? The method follows from the class; no single method is imposed.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Then choose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Croston, SBA, TSB, Holt-Winters or a day-of-week seasonal naive — whichever suits this particular series.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Back-test the choice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Validated with MAE / MAPE / RMSE. The method used and its error are shown on screen.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Zeros count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The calendar is zero-filled; those zeros are what define intermittent demand in the first place.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22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Dashboard and reports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Panel and report share one aggregation — they cannot disagree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20 KPIs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Daily and monthly sales, target achievement, gross margin, collections, open and overdue receivables, stock value, expiring soon.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7 live charts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Sales trend, category split, top products and salespeople, regional distribution, collections versus sales.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21 built-in reports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Sales, salesperson, customer, SKU, brand, region, route, collections, risk, stock, expiry, wastage, returns, campaigns, profitability, targets.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PDF · Excel · CSV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Written as UTF-8 with BOM so Turkish characters open correctly in Excel with no import step.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23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DejaVu Sans"/>
              </a:rPr>
              <a:t>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DejaVu Sans"/>
              </a:rPr>
              <a:t>Demand forecasting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·  The series is classified first: smooth, intermittent or lumpy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The method follows from the class — none is imposed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The choice is validated by back-testing (MAE / MAPE / RMSE)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Method used, error and confidence interval are shown on screen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18-tahminler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" y="224028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1E293B"/>
                </a:solidFill>
                <a:latin typeface="DejaVu San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87168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DejaVu Sans"/>
              </a:rPr>
              <a:t>Artificial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96" y="3529584"/>
            <a:ext cx="1005840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20" y="3767328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DejaVu Sans"/>
              </a:rPr>
              <a:t>Local-first, explainable, budgeted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1447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24 / 33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25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Three providers, one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The router picks a model per task and fails over when one is down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LM Studio — 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Runs on your own machine, costs nothing and no data leaves the building. The default first choice.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NVIDIA NIM — cloud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Steps in when the local model is not enough; over 100 models selected by task type.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Claude — 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Configurable for long-context and harder reasoning 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Budget protection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When the monthly limit is reached the paid providers stop while the local model keeps working.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26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The AI Sales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Plain-language question → read-only query → justified answer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Example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«Show the 10 best-selling reps today» · «Show customers with high collection risk» · «Which customers did we lose in the last 90 days?»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It shows its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The data behind the answer is visible in an expandable panel — "where did that number come from" is answerable.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Read-only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A single SELECT may be executed. No data-modifying command is accepted.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Closed tables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User, session and audit tables are entirely off limits to AI queries.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27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DejaVu Sans"/>
              </a:rPr>
              <a:t>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DejaVu Sans"/>
              </a:rPr>
              <a:t>The AI Sales Manager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·  A question is asked in plain language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The system produces and runs a read-only query only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The data behind the answer is visible in an expandable panel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User, session and audit tables are off limits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19-ai-mudur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28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Authorisation is checked separately at three layers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19 roles · 207 permissions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Screen, action and data scope are enforced separately. A rep sees only their own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No privilege escalation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Nobody can assign a role above their own or grant a permission they do not hold.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Chained audit 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Each entry carries the previous one's digest. Alter a historical row and the chain breaks, reporting where.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Secrets stay secret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API keys are never stored in the database, are stripped before logging and are masked on screen.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29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DejaVu Sans"/>
              </a:rPr>
              <a:t>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DejaVu Sans"/>
              </a:rPr>
              <a:t>Compliance and human rights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·  The personal-data inventory is measured from the code, not assumed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Consent and notice are kept as separate records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Missing evidence yields 'insufficient evidence', never 'compliant'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Every decision put to the authority engine — refusals included — leaves a chained receipt and an appeal path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22-uyumluluk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30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Other 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The system has 49 screens; six of them here</a:t>
            </a:r>
          </a:p>
        </p:txBody>
      </p:sp>
      <p:sp>
        <p:nvSpPr>
          <p:cNvPr id="8" name="Rectangle 7"/>
          <p:cNvSpPr/>
          <p:nvPr/>
        </p:nvSpPr>
        <p:spPr>
          <a:xfrm>
            <a:off x="924915" y="2071115"/>
            <a:ext cx="3282696" cy="1874519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04-musteriler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919" y="2103120"/>
            <a:ext cx="3218688" cy="18105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6919" y="3986783"/>
            <a:ext cx="3218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Customers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54499" y="2071115"/>
            <a:ext cx="3282696" cy="1874519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06-urunler-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503" y="2103120"/>
            <a:ext cx="3218688" cy="18105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86503" y="3986783"/>
            <a:ext cx="3218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Products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84083" y="2071115"/>
            <a:ext cx="3282696" cy="1874519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16-raporlar-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6087" y="2103120"/>
            <a:ext cx="3218688" cy="18105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16087" y="3986783"/>
            <a:ext cx="3218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Reports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915" y="4549140"/>
            <a:ext cx="3282696" cy="1874519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12-gun-yonetimi-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919" y="4581144"/>
            <a:ext cx="3218688" cy="18105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56919" y="6464808"/>
            <a:ext cx="3218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Day sessions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54499" y="4549140"/>
            <a:ext cx="3282696" cy="1874519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28-roller-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6503" y="4581144"/>
            <a:ext cx="3218688" cy="181051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486503" y="6464808"/>
            <a:ext cx="3218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Roles &amp; permissions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84083" y="4549140"/>
            <a:ext cx="3282696" cy="1874519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27-egitim-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6087" y="4581144"/>
            <a:ext cx="3218688" cy="181051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016087" y="6464808"/>
            <a:ext cx="3218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Training centre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31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Technology and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Nothing that was not already installed has been made mandatory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212848"/>
            <a:ext cx="5376672" cy="36118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212848"/>
            <a:ext cx="5376672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487168"/>
            <a:ext cx="46085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DejaVu Sans"/>
              </a:rPr>
              <a:t>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035808"/>
            <a:ext cx="4608576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DejaVu Sans"/>
              </a:rPr>
              <a:t>·  Python 3.11 · FastAPI · SQLAlchemy 2.0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94A3B8"/>
                </a:solidFill>
                <a:latin typeface="DejaVu Sans"/>
              </a:rPr>
              <a:t>·  React 18 · TypeScript · Vite · Tailwind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94A3B8"/>
                </a:solidFill>
                <a:latin typeface="DejaVu Sans"/>
              </a:rPr>
              <a:t>·  SQLite by default — PostgreSQL optional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94A3B8"/>
                </a:solidFill>
                <a:latin typeface="DejaVu Sans"/>
              </a:rPr>
              <a:t>·  PWA: offline capable, installable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94A3B8"/>
                </a:solidFill>
                <a:latin typeface="DejaVu Sans"/>
              </a:rPr>
              <a:t>·  Redis and Docker are not required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2212848"/>
            <a:ext cx="5376672" cy="36118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54496" y="2212848"/>
            <a:ext cx="5376672" cy="5029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38544" y="2487168"/>
            <a:ext cx="46085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DejaVu Sans"/>
              </a:rPr>
              <a:t>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8544" y="3035808"/>
            <a:ext cx="4608576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DejaVu Sans"/>
              </a:rPr>
              <a:t>·  setup.ps1 — one-command install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94A3B8"/>
                </a:solidFill>
                <a:latin typeface="DejaVu Sans"/>
              </a:rPr>
              <a:t>·  start.bat — one-click start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94A3B8"/>
                </a:solidFill>
                <a:latin typeface="DejaVu Sans"/>
              </a:rPr>
              <a:t>·  Demo data: 500 customers, 12 months history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94A3B8"/>
                </a:solidFill>
                <a:latin typeface="DejaVu Sans"/>
              </a:rPr>
              <a:t>·  14-lesson in-app training centre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94A3B8"/>
                </a:solidFill>
                <a:latin typeface="DejaVu Sans"/>
              </a:rPr>
              <a:t>·  TR / EN — instant language switch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32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DejaVu Sans"/>
              </a:rPr>
              <a:t>PLATFORMS &amp; DOWNLOAD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10424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DejaVu Sans"/>
              </a:rPr>
              <a:t>Windows 10/11 (x64) &amp; macOS (Apple Silicon)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246120"/>
            <a:ext cx="11064240" cy="1133856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96112" y="3483863"/>
            <a:ext cx="1042416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DejaVu Sans"/>
              </a:rPr>
              <a:t>Download: GitHub Releases (v1.0.0)</a:t>
            </a:r>
          </a:p>
          <a:p>
            <a:pPr algn="l"/>
            <a:r>
              <a:rPr sz="1600" b="1">
                <a:solidFill>
                  <a:srgbClr val="2DD4BF"/>
                </a:solidFill>
                <a:latin typeface="DejaVu Sans"/>
              </a:rPr>
              <a:t>github.com/Azizsekerdil/smart-van-sales-management-system/releases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764024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DejaVu Sans"/>
              </a:rPr>
              <a:t>Two assets are published on GitHub Releases: a Windows zip and a macOS zip. The macOS package targets Apple Silicon (arm64) and is not notarized — on first launch, right-click → Open.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60120" y="21031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996696" y="3127248"/>
            <a:ext cx="1005840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338328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DejaVu Sans"/>
              </a:rPr>
              <a:t>Every movement in the field recorded, every figure accounted for at day 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224528"/>
            <a:ext cx="1916582" cy="47548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4224528"/>
            <a:ext cx="191658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DejaVu Sans"/>
              </a:rPr>
              <a:t>Install: setup.ps1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1294" y="4224528"/>
            <a:ext cx="1748332" cy="47548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041294" y="4224528"/>
            <a:ext cx="174833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DejaVu Sans"/>
              </a:rPr>
              <a:t>Start: start.bat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54219" y="4224528"/>
            <a:ext cx="2757830" cy="47548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954219" y="4224528"/>
            <a:ext cx="275783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DejaVu Sans"/>
              </a:rPr>
              <a:t>Guide: docs/USER_GUIDE_EN.md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DejaVu Sans"/>
              </a:rPr>
              <a:t>This deck is generated from the product's own 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58064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2DD4BF"/>
                </a:solidFill>
                <a:latin typeface="DejaVu Sans"/>
              </a:rPr>
              <a:t>v1.0.0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